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12"/>
  </p:notesMasterIdLst>
  <p:sldIdLst>
    <p:sldId id="256" r:id="rId3"/>
    <p:sldId id="258" r:id="rId4"/>
    <p:sldId id="351" r:id="rId5"/>
    <p:sldId id="356" r:id="rId6"/>
    <p:sldId id="354" r:id="rId7"/>
    <p:sldId id="357" r:id="rId8"/>
    <p:sldId id="259" r:id="rId9"/>
    <p:sldId id="358" r:id="rId10"/>
    <p:sldId id="359" r:id="rId11"/>
  </p:sldIdLst>
  <p:sldSz cx="9144000" cy="5149850"/>
  <p:notesSz cx="9144000" cy="514985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58"/>
    <a:srgbClr val="FF7900"/>
    <a:srgbClr val="FF0000"/>
    <a:srgbClr val="A7B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9" autoAdjust="0"/>
    <p:restoredTop sz="81423" autoAdjust="0"/>
  </p:normalViewPr>
  <p:slideViewPr>
    <p:cSldViewPr>
      <p:cViewPr varScale="1">
        <p:scale>
          <a:sx n="135" d="100"/>
          <a:sy n="135" d="100"/>
        </p:scale>
        <p:origin x="864" y="168"/>
      </p:cViewPr>
      <p:guideLst/>
    </p:cSldViewPr>
  </p:slideViewPr>
  <p:outlineViewPr>
    <p:cViewPr>
      <p:scale>
        <a:sx n="33" d="100"/>
        <a:sy n="33" d="100"/>
      </p:scale>
      <p:origin x="0" y="-214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132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CED07-ADED-1945-A849-D40B2D3DE06D}" type="datetimeFigureOut">
              <a:rPr lang="de-DE" smtClean="0"/>
              <a:t>13.08.25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030538" y="644525"/>
            <a:ext cx="3082925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2478088"/>
            <a:ext cx="7315200" cy="2028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80013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6D48C-7649-2743-8828-B4927EA4F4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906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6D48C-7649-2743-8828-B4927EA4F4D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636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8813-5A83-9DC2-24B8-9BF241CF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BAFF4-1D80-909C-A0EC-DDCD65310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B9AE7-CEAC-C7F9-9480-CF5285F9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FF9CC-FFDE-34B8-566A-7C4AC2638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6D48C-7649-2743-8828-B4927EA4F4D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33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3B9D-BA40-CEAE-6DD7-1F8012A9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91F4D-EB52-D5D5-A168-C7151AE81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6C375-E0B5-2A59-6BAF-16FDFDAF2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AEFD0-7A47-00E1-FC40-4442F4BD4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6D48C-7649-2743-8828-B4927EA4F4D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359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84283-1013-BE2B-4400-6449E4A76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213FD-718B-5C15-6F90-6B213B757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FDB4E-E651-4548-2FC0-908EB1C5E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FCB10-AD0A-2C6B-EAE2-896B1DFB9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6D48C-7649-2743-8828-B4927EA4F4D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170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65CC-5FD0-346C-94D9-8E8D8982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CF379-6B19-3AC5-463F-FAEB58512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178CB-48EA-CA6E-6304-32C75009D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112C8-B892-9EC5-1BBA-01A69F8EF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6D48C-7649-2743-8828-B4927EA4F4D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9230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6D48C-7649-2743-8828-B4927EA4F4D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867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B6867-5BA4-8D86-6531-F202F7A7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03B14-6B71-C729-CD05-8A490889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03F77-7751-80B9-7B46-7BB214175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91B43-6961-3E45-99EF-B53D54916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6D48C-7649-2743-8828-B4927EA4F4D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549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F1C39-972D-572E-2398-4D702F48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7D7D4-25CE-8FE2-F024-6CF1479C4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A2C31-4DFD-594E-8B11-5CC82BC06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0E354-954E-185B-5DF3-B6F3985B6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6D48C-7649-2743-8828-B4927EA4F4D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726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8718FB3C-B9ED-9841-96BF-086D0F7EB7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254259" y="4740549"/>
            <a:ext cx="426721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000">
                <a:solidFill>
                  <a:srgbClr val="A7B6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B147921-2C91-5443-9FFA-95DF80653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90600" y="669925"/>
            <a:ext cx="7162800" cy="1752600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rgbClr val="FF7900"/>
                </a:solidFill>
              </a:defRPr>
            </a:lvl1pPr>
          </a:lstStyle>
          <a:p>
            <a:r>
              <a:rPr lang="en-US" noProof="0" dirty="0"/>
              <a:t>Title of the talk</a:t>
            </a:r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165E422B-3D57-A34E-A067-07A86D19E25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0600" y="2862092"/>
            <a:ext cx="7162800" cy="381000"/>
          </a:xfrm>
          <a:prstGeom prst="rect">
            <a:avLst/>
          </a:prstGeom>
        </p:spPr>
        <p:txBody>
          <a:bodyPr/>
          <a:lstStyle>
            <a:lvl1pPr algn="ctr">
              <a:defRPr sz="1900">
                <a:solidFill>
                  <a:srgbClr val="003358"/>
                </a:solidFill>
              </a:defRPr>
            </a:lvl1pPr>
          </a:lstStyle>
          <a:p>
            <a:r>
              <a:rPr lang="en-US" noProof="0" dirty="0"/>
              <a:t>Authors</a:t>
            </a:r>
          </a:p>
          <a:p>
            <a:endParaRPr lang="en-US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ED9963-63C6-6A4E-BE44-0E1627ADC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1" cy="461665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DDF825-24D0-7940-9B15-534E8D0FBA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33034B0-3FBC-C54A-A62F-7E9186DF14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305401" cy="3352800"/>
          </a:xfrm>
          <a:prstGeom prst="rect">
            <a:avLst/>
          </a:prstGeom>
        </p:spPr>
        <p:txBody>
          <a:bodyPr/>
          <a:lstStyle>
            <a:lvl1pPr marL="182563" indent="-182563">
              <a:buClr>
                <a:srgbClr val="FF7900"/>
              </a:buClr>
              <a:buFont typeface="Wingdings" pitchFamily="2" charset="2"/>
              <a:buChar char="§"/>
              <a:tabLst/>
              <a:defRPr lang="de-DE" sz="1800" i="0" kern="1200" spc="-5" dirty="0" smtClean="0">
                <a:solidFill>
                  <a:srgbClr val="003358"/>
                </a:solidFill>
                <a:latin typeface="Arial"/>
                <a:ea typeface="+mn-ea"/>
                <a:cs typeface="Arial"/>
              </a:defRPr>
            </a:lvl1pPr>
            <a:lvl2pPr marL="139700" indent="-139700">
              <a:buClr>
                <a:srgbClr val="FF7900"/>
              </a:buClr>
              <a:buFont typeface="Wingdings" pitchFamily="2" charset="2"/>
              <a:buChar char="§"/>
              <a:tabLst/>
              <a:defRPr lang="en-US" sz="1600" i="0" kern="1200" spc="-5" dirty="0" smtClean="0">
                <a:solidFill>
                  <a:srgbClr val="003358"/>
                </a:solidFill>
                <a:latin typeface="Arial"/>
                <a:ea typeface="+mn-ea"/>
                <a:cs typeface="Arial"/>
              </a:defRPr>
            </a:lvl2pPr>
            <a:lvl3pPr marL="488950" indent="-215900">
              <a:buClr>
                <a:srgbClr val="FF7900"/>
              </a:buClr>
              <a:buFont typeface="Symbol" pitchFamily="2" charset="2"/>
              <a:buChar char="-"/>
              <a:tabLst/>
              <a:defRPr sz="1600">
                <a:solidFill>
                  <a:srgbClr val="0033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763588" indent="-225425">
              <a:buClr>
                <a:srgbClr val="FF7900"/>
              </a:buClr>
              <a:buSzPct val="100000"/>
              <a:buFont typeface="Courier New" panose="02070309020205020404" pitchFamily="49" charset="0"/>
              <a:buChar char="o"/>
              <a:tabLst/>
              <a:defRPr lang="en-US" sz="1600" dirty="0">
                <a:solidFill>
                  <a:srgbClr val="00335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77900" indent="-173038">
              <a:buClr>
                <a:srgbClr val="FF7900"/>
              </a:buClr>
              <a:buFont typeface="Courier New" panose="02070309020205020404" pitchFamily="49" charset="0"/>
              <a:buChar char="o"/>
              <a:tabLst/>
              <a:defRPr sz="1600">
                <a:solidFill>
                  <a:srgbClr val="0033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244600" indent="-174625">
              <a:buClr>
                <a:srgbClr val="FF7900"/>
              </a:buClr>
              <a:buFont typeface="Courier New" panose="02070309020205020404" pitchFamily="49" charset="0"/>
              <a:buChar char="o"/>
              <a:tabLst/>
              <a:defRPr sz="1600">
                <a:solidFill>
                  <a:srgbClr val="0033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</a:lstStyle>
          <a:p>
            <a:r>
              <a:rPr lang="de-DE" dirty="0"/>
              <a:t>Mastertextformat bearbeiten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663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BAD3-1FC1-4E8E-C4B5-984B43B4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14C480-0146-7C4C-4F80-57C047A1D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40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0B041ACF-0DA4-EE4B-948D-65714FBD85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254259" y="4740549"/>
            <a:ext cx="426721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000">
                <a:solidFill>
                  <a:srgbClr val="A7B6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1F0A973B-20AF-AB48-B59D-F8CBF7C6BD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00600" y="3032125"/>
            <a:ext cx="3972420" cy="304800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lang="de-DE" sz="1600" i="0" kern="1200" spc="-5" dirty="0" smtClean="0">
                <a:solidFill>
                  <a:srgbClr val="003358"/>
                </a:solidFill>
                <a:latin typeface="Arial"/>
                <a:ea typeface="+mn-ea"/>
                <a:cs typeface="Arial"/>
              </a:defRPr>
            </a:lvl1pPr>
          </a:lstStyle>
          <a:p>
            <a:r>
              <a:rPr lang="en-US" noProof="0" dirty="0"/>
              <a:t>Subtitle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A266A04D-2C94-B94B-931A-B1BF2EE909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801" y="3413125"/>
            <a:ext cx="5801220" cy="533400"/>
          </a:xfrm>
          <a:prstGeom prst="rect">
            <a:avLst/>
          </a:prstGeom>
        </p:spPr>
        <p:txBody>
          <a:bodyPr/>
          <a:lstStyle>
            <a:lvl1pPr algn="r">
              <a:defRPr sz="3200" b="1">
                <a:solidFill>
                  <a:srgbClr val="FF7900"/>
                </a:solidFill>
              </a:defRPr>
            </a:lvl1pPr>
          </a:lstStyle>
          <a:p>
            <a:r>
              <a:rPr lang="en-US" noProof="0" dirty="0"/>
              <a:t>Section title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9847"/>
            <a:ext cx="8515350" cy="554976"/>
          </a:xfrm>
        </p:spPr>
        <p:txBody>
          <a:bodyPr>
            <a:normAutofit/>
          </a:bodyPr>
          <a:lstStyle>
            <a:lvl1pPr>
              <a:defRPr sz="2703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749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8A64BD-7A5C-4091-9D6F-3D5734F68EB8}"/>
              </a:ext>
            </a:extLst>
          </p:cNvPr>
          <p:cNvSpPr txBox="1"/>
          <p:nvPr userDrawn="1"/>
        </p:nvSpPr>
        <p:spPr>
          <a:xfrm>
            <a:off x="990600" y="4694382"/>
            <a:ext cx="464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de-DE" sz="1000" b="0" i="0" kern="1200" spc="-15" dirty="0">
                <a:solidFill>
                  <a:srgbClr val="A7B6BF"/>
                </a:solidFill>
                <a:latin typeface="Arial"/>
                <a:ea typeface="+mn-ea"/>
                <a:cs typeface="Arial"/>
              </a:rPr>
              <a:t>MRSP Seminar, Taimur </a:t>
            </a:r>
            <a:r>
              <a:rPr lang="de-DE" sz="1000" b="0" i="0" kern="1200" spc="-15" dirty="0" err="1">
                <a:solidFill>
                  <a:srgbClr val="A7B6BF"/>
                </a:solidFill>
                <a:latin typeface="Arial"/>
                <a:ea typeface="+mn-ea"/>
                <a:cs typeface="Arial"/>
              </a:rPr>
              <a:t>ul</a:t>
            </a:r>
            <a:r>
              <a:rPr lang="de-DE" sz="1000" b="0" i="0" kern="1200" spc="-15" dirty="0">
                <a:solidFill>
                  <a:srgbClr val="A7B6BF"/>
                </a:solidFill>
                <a:latin typeface="Arial"/>
                <a:ea typeface="+mn-ea"/>
                <a:cs typeface="Arial"/>
              </a:rPr>
              <a:t> Islam</a:t>
            </a:r>
          </a:p>
        </p:txBody>
      </p:sp>
      <p:sp>
        <p:nvSpPr>
          <p:cNvPr id="16" name="bk object 16"/>
          <p:cNvSpPr/>
          <p:nvPr/>
        </p:nvSpPr>
        <p:spPr>
          <a:xfrm>
            <a:off x="0" y="44964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0074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7900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54259" y="4740549"/>
            <a:ext cx="426721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000">
                <a:solidFill>
                  <a:srgbClr val="A7B6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BE9D2E5-2D3B-2A46-BB87-8987C797D52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14000" y="4590000"/>
            <a:ext cx="1973213" cy="4632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2" r:id="rId4"/>
  </p:sldLayoutIdLst>
  <p:hf hdr="0" ftr="0"/>
  <p:txStyles>
    <p:titleStyle>
      <a:lvl1pPr>
        <a:defRPr sz="3000">
          <a:latin typeface="+mj-lt"/>
          <a:ea typeface="+mj-ea"/>
          <a:cs typeface="+mj-cs"/>
        </a:defRPr>
      </a:lvl1pPr>
    </p:titleStyle>
    <p:bodyStyle>
      <a:lvl1pPr marL="0">
        <a:defRPr sz="1600" kern="1200" dirty="0">
          <a:solidFill>
            <a:srgbClr val="003358"/>
          </a:solidFill>
          <a:latin typeface="Arial"/>
          <a:ea typeface="+mn-ea"/>
          <a:cs typeface="Arial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2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79848"/>
            <a:ext cx="7886700" cy="55497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5529"/>
            <a:ext cx="7886700" cy="3722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4711857"/>
            <a:ext cx="9144000" cy="414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68665" rtlCol="0" anchor="ctr"/>
          <a:lstStyle/>
          <a:p>
            <a:pPr marL="0" marR="0" lvl="0" indent="0" algn="ctr" defTabSz="686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3" b="0" i="0" u="none" strike="noStrike" kern="1200" cap="none" spc="113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88899" y="5226145"/>
            <a:ext cx="1295547" cy="2194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26" b="0" i="0" dirty="0">
                <a:solidFill>
                  <a:srgbClr val="008C58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826" b="0" i="0" u="none" strike="noStrike" dirty="0">
                <a:solidFill>
                  <a:srgbClr val="008C58"/>
                </a:solidFill>
                <a:effectLst/>
                <a:latin typeface="Open Sans" panose="020B0606030504020204" pitchFamily="34" charset="0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826" dirty="0">
              <a:solidFill>
                <a:srgbClr val="008C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85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686623" rtl="0" eaLnBrk="1" latinLnBrk="0" hangingPunct="1">
        <a:lnSpc>
          <a:spcPct val="90000"/>
        </a:lnSpc>
        <a:spcBef>
          <a:spcPct val="0"/>
        </a:spcBef>
        <a:buNone/>
        <a:defRPr lang="en-US" sz="2703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656" indent="-171656" algn="l" defTabSz="68662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j-lt"/>
          <a:ea typeface="+mn-ea"/>
          <a:cs typeface="+mn-cs"/>
        </a:defRPr>
      </a:lvl1pPr>
      <a:lvl2pPr marL="514967" indent="-171656" algn="l" defTabSz="6866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2" kern="1200">
          <a:solidFill>
            <a:schemeClr val="tx1"/>
          </a:solidFill>
          <a:latin typeface="+mj-lt"/>
          <a:ea typeface="+mn-ea"/>
          <a:cs typeface="+mn-cs"/>
        </a:defRPr>
      </a:lvl2pPr>
      <a:lvl3pPr marL="858279" indent="-171656" algn="l" defTabSz="6866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j-lt"/>
          <a:ea typeface="+mn-ea"/>
          <a:cs typeface="+mn-cs"/>
        </a:defRPr>
      </a:lvl3pPr>
      <a:lvl4pPr marL="1201590" indent="-171656" algn="l" defTabSz="6866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1" kern="1200">
          <a:solidFill>
            <a:schemeClr val="tx1"/>
          </a:solidFill>
          <a:latin typeface="+mj-lt"/>
          <a:ea typeface="+mn-ea"/>
          <a:cs typeface="+mn-cs"/>
        </a:defRPr>
      </a:lvl4pPr>
      <a:lvl5pPr marL="1544902" indent="-171656" algn="l" defTabSz="6866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1" kern="1200">
          <a:solidFill>
            <a:schemeClr val="tx1"/>
          </a:solidFill>
          <a:latin typeface="+mj-lt"/>
          <a:ea typeface="+mn-ea"/>
          <a:cs typeface="+mn-cs"/>
        </a:defRPr>
      </a:lvl5pPr>
      <a:lvl6pPr marL="1888213" indent="-171656" algn="l" defTabSz="6866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31525" indent="-171656" algn="l" defTabSz="6866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4836" indent="-171656" algn="l" defTabSz="6866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8148" indent="-171656" algn="l" defTabSz="6866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3311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6623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9934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3246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6557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9869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3180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6492" algn="l" defTabSz="686623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630B11-928E-4923-B80F-407DAA2B3A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EE0A3-2B00-4936-8659-0AF5A6ACBDD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800" dirty="0"/>
              <a:t>Implementation of a Neural Network-Based Perceptual Loss for Audio</a:t>
            </a:r>
            <a:endParaRPr lang="en-GB" sz="2800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4C0AC0-B01F-4996-BD69-D3D148C465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noProof="0" dirty="0"/>
              <a:t>Name = Taimur ul Islam</a:t>
            </a:r>
          </a:p>
          <a:p>
            <a:r>
              <a:rPr lang="en-GB" dirty="0"/>
              <a:t>Matriculation number = 64955</a:t>
            </a:r>
            <a:endParaRPr lang="en-GB" noProof="0" dirty="0"/>
          </a:p>
          <a:p>
            <a:endParaRPr lang="en-GB" noProof="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1573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1EF311-62D2-473C-A631-D15510104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19268-B1F9-4A55-90EA-08B51E4419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ECAD67-C65D-48EA-9C63-EE7C87CF9C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267501" cy="3352800"/>
          </a:xfrm>
        </p:spPr>
        <p:txBody>
          <a:bodyPr/>
          <a:lstStyle/>
          <a:p>
            <a:r>
              <a:rPr lang="en-GB" dirty="0"/>
              <a:t>Objective:-</a:t>
            </a:r>
          </a:p>
          <a:p>
            <a:pPr lvl="2"/>
            <a:r>
              <a:rPr lang="en-GB" sz="1800" dirty="0"/>
              <a:t>This project describe the perceptual loss between paired clean and noisy audio dataset.</a:t>
            </a:r>
          </a:p>
          <a:p>
            <a:pPr lvl="2"/>
            <a:r>
              <a:rPr lang="en-GB" sz="1800" dirty="0"/>
              <a:t>Traditional metrics: MSE and SNR</a:t>
            </a:r>
          </a:p>
          <a:p>
            <a:pPr lvl="2"/>
            <a:r>
              <a:rPr lang="en-GB" sz="1800" dirty="0"/>
              <a:t>Perceptual metric: </a:t>
            </a:r>
            <a:r>
              <a:rPr lang="en-GB" sz="1800" dirty="0" err="1"/>
              <a:t>VGGish</a:t>
            </a:r>
            <a:r>
              <a:rPr lang="en-GB" sz="1800" dirty="0"/>
              <a:t> embeddings with cosine distance.</a:t>
            </a:r>
          </a:p>
          <a:p>
            <a:r>
              <a:rPr lang="en-GB" dirty="0"/>
              <a:t>Goal:-</a:t>
            </a:r>
          </a:p>
          <a:p>
            <a:pPr lvl="2"/>
            <a:r>
              <a:rPr lang="en-GB" sz="1800" dirty="0"/>
              <a:t> Evaluate the difference between the results using given approaches</a:t>
            </a:r>
          </a:p>
        </p:txBody>
      </p:sp>
    </p:spTree>
    <p:extLst>
      <p:ext uri="{BB962C8B-B14F-4D97-AF65-F5344CB8AC3E}">
        <p14:creationId xmlns:p14="http://schemas.microsoft.com/office/powerpoint/2010/main" val="650205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C504-707B-01F2-87C7-E41EAEA4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07ECD7-79B9-3527-8814-757AAE54D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1" cy="461665"/>
          </a:xfrm>
        </p:spPr>
        <p:txBody>
          <a:bodyPr/>
          <a:lstStyle/>
          <a:p>
            <a:r>
              <a:rPr lang="en-GB" dirty="0"/>
              <a:t>Objectives and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F5F68-AB25-70F3-0F85-46F4B3D179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909FF6-38EE-FB8D-768C-6D0AFFF9C21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267501" cy="3352800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Implement perceptual loss function using </a:t>
            </a:r>
            <a:r>
              <a:rPr lang="en-GB" dirty="0" err="1"/>
              <a:t>VGGish</a:t>
            </a:r>
            <a:endParaRPr lang="en-GB" dirty="0"/>
          </a:p>
          <a:p>
            <a:r>
              <a:rPr lang="en-GB" dirty="0"/>
              <a:t>Compare with traditional metrics (MSE, SNR)</a:t>
            </a:r>
          </a:p>
          <a:p>
            <a:endParaRPr lang="en-GB" dirty="0"/>
          </a:p>
          <a:p>
            <a:r>
              <a:rPr lang="en-GB" dirty="0"/>
              <a:t>Tasks:</a:t>
            </a:r>
          </a:p>
          <a:p>
            <a:pPr lvl="2"/>
            <a:r>
              <a:rPr lang="en-GB" sz="1800" dirty="0"/>
              <a:t>Set up embedding-based audio comparison</a:t>
            </a:r>
            <a:endParaRPr lang="en-GB" dirty="0"/>
          </a:p>
          <a:p>
            <a:pPr lvl="2"/>
            <a:r>
              <a:rPr lang="en-GB" sz="1800" dirty="0"/>
              <a:t>Compute traditional metrics</a:t>
            </a:r>
            <a:endParaRPr lang="en-GB" dirty="0"/>
          </a:p>
          <a:p>
            <a:pPr lvl="2"/>
            <a:r>
              <a:rPr lang="en-GB" sz="1800" dirty="0" err="1"/>
              <a:t>Analyze</a:t>
            </a:r>
            <a:r>
              <a:rPr lang="en-GB" sz="1800" dirty="0"/>
              <a:t> and visualize results</a:t>
            </a:r>
          </a:p>
        </p:txBody>
      </p:sp>
    </p:spTree>
    <p:extLst>
      <p:ext uri="{BB962C8B-B14F-4D97-AF65-F5344CB8AC3E}">
        <p14:creationId xmlns:p14="http://schemas.microsoft.com/office/powerpoint/2010/main" val="1417012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E6C52-063F-CB61-8635-D5B165CC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49D4CB-A132-C42D-49B1-26CA3D6D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1" cy="461665"/>
          </a:xfrm>
        </p:spPr>
        <p:txBody>
          <a:bodyPr/>
          <a:lstStyle/>
          <a:p>
            <a:r>
              <a:rPr lang="en-GB" dirty="0"/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3F7F5-DA8D-3ACC-D0F8-DDE10BA264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907393-BD7B-3AB0-709B-05B45417FA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267501" cy="3352800"/>
          </a:xfrm>
        </p:spPr>
        <p:txBody>
          <a:bodyPr/>
          <a:lstStyle/>
          <a:p>
            <a:r>
              <a:rPr lang="en-GB" dirty="0"/>
              <a:t>MSE &amp; SNR measure distortion but may not align with human hearing</a:t>
            </a:r>
          </a:p>
          <a:p>
            <a:r>
              <a:rPr lang="en-GB" dirty="0" err="1"/>
              <a:t>VGGish</a:t>
            </a:r>
            <a:r>
              <a:rPr lang="en-GB" dirty="0"/>
              <a:t> or OpenL3: Learn audio representations that track perception</a:t>
            </a:r>
          </a:p>
          <a:p>
            <a:r>
              <a:rPr lang="en-GB" dirty="0"/>
              <a:t>Gap: Few works compare both methods on same dataset</a:t>
            </a:r>
          </a:p>
        </p:txBody>
      </p:sp>
    </p:spTree>
    <p:extLst>
      <p:ext uri="{BB962C8B-B14F-4D97-AF65-F5344CB8AC3E}">
        <p14:creationId xmlns:p14="http://schemas.microsoft.com/office/powerpoint/2010/main" val="95913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6A390-FAAC-B310-9B5B-B4F22512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B943-CDDD-F529-12CE-36EB2AE1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1" cy="492443"/>
          </a:xfrm>
        </p:spPr>
        <p:txBody>
          <a:bodyPr/>
          <a:lstStyle/>
          <a:p>
            <a:r>
              <a:rPr lang="en-GB" sz="3200" dirty="0"/>
              <a:t>Methodology</a:t>
            </a:r>
            <a:endParaRPr lang="en-GB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F96352-38F7-EE1B-D9D5-4B46410399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B75FA-3295-9385-A616-9FE6F4CB882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305401" cy="3505200"/>
          </a:xfrm>
        </p:spPr>
        <p:txBody>
          <a:bodyPr/>
          <a:lstStyle/>
          <a:p>
            <a:r>
              <a:rPr lang="en-GB" dirty="0"/>
              <a:t>Load clean &amp; noisy audio</a:t>
            </a:r>
          </a:p>
          <a:p>
            <a:endParaRPr lang="en-GB" dirty="0"/>
          </a:p>
          <a:p>
            <a:r>
              <a:rPr lang="en-GB" dirty="0"/>
              <a:t>Align and normalize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Compute MSE &amp; SNR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Extract </a:t>
            </a:r>
            <a:r>
              <a:rPr lang="en-GB" dirty="0" err="1"/>
              <a:t>VGGish</a:t>
            </a:r>
            <a:r>
              <a:rPr lang="en-GB" dirty="0"/>
              <a:t> embeddings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Calculate cosine distance for perceptual loss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Compare results</a:t>
            </a:r>
          </a:p>
        </p:txBody>
      </p:sp>
    </p:spTree>
    <p:extLst>
      <p:ext uri="{BB962C8B-B14F-4D97-AF65-F5344CB8AC3E}">
        <p14:creationId xmlns:p14="http://schemas.microsoft.com/office/powerpoint/2010/main" val="137153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30C83-6371-8EE8-9D3E-65C198FA4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25A10-E48C-8AB6-DB0C-FD4F4474D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2" cy="461665"/>
          </a:xfrm>
        </p:spPr>
        <p:txBody>
          <a:bodyPr/>
          <a:lstStyle/>
          <a:p>
            <a:r>
              <a:rPr lang="en-GB" dirty="0"/>
              <a:t>Tools and Data</a:t>
            </a:r>
            <a:endParaRPr lang="en-GB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4B1F95-B522-D75E-70E3-AA5F2B4E3D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4291A-E05D-714E-705D-A136CCBBDDF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305401" cy="3505200"/>
          </a:xfrm>
        </p:spPr>
        <p:txBody>
          <a:bodyPr/>
          <a:lstStyle/>
          <a:p>
            <a:r>
              <a:rPr lang="en-GB" dirty="0"/>
              <a:t>Tools:-</a:t>
            </a:r>
          </a:p>
          <a:p>
            <a:pPr lvl="2"/>
            <a:r>
              <a:rPr lang="en-GB" sz="1800" dirty="0"/>
              <a:t>Python, NumPy, Pandas, </a:t>
            </a:r>
            <a:r>
              <a:rPr lang="en-GB" sz="1800" dirty="0" err="1"/>
              <a:t>Librosa</a:t>
            </a:r>
            <a:r>
              <a:rPr lang="en-GB" sz="1800" dirty="0"/>
              <a:t>, </a:t>
            </a:r>
            <a:r>
              <a:rPr lang="en-GB" sz="1800" dirty="0" err="1"/>
              <a:t>PyTorch</a:t>
            </a:r>
            <a:r>
              <a:rPr lang="en-GB" sz="1800" dirty="0"/>
              <a:t>/TF</a:t>
            </a:r>
          </a:p>
          <a:p>
            <a:endParaRPr lang="en-GB" dirty="0"/>
          </a:p>
          <a:p>
            <a:r>
              <a:rPr lang="en-GB" dirty="0"/>
              <a:t>Data:-</a:t>
            </a:r>
          </a:p>
          <a:p>
            <a:pPr lvl="2"/>
            <a:r>
              <a:rPr lang="en-GB" sz="1800" dirty="0"/>
              <a:t>Clean files: 94 .wav</a:t>
            </a:r>
          </a:p>
          <a:p>
            <a:pPr lvl="2"/>
            <a:r>
              <a:rPr lang="en-GB" sz="1800" dirty="0"/>
              <a:t>Noisy files: 101 .wav</a:t>
            </a:r>
          </a:p>
          <a:p>
            <a:pPr lvl="2"/>
            <a:r>
              <a:rPr lang="en-GB" sz="1800" dirty="0"/>
              <a:t>Paired, resampled, trimmed, normalized</a:t>
            </a:r>
          </a:p>
          <a:p>
            <a:pPr marL="0" indent="0"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9612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C1FD3-2846-4D2C-ABEE-9898C0888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1" cy="461665"/>
          </a:xfrm>
        </p:spPr>
        <p:txBody>
          <a:bodyPr/>
          <a:lstStyle/>
          <a:p>
            <a:r>
              <a:rPr lang="en-GB" dirty="0"/>
              <a:t>Results</a:t>
            </a:r>
            <a:endParaRPr lang="en-GB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65E11C-C3B2-4131-83F4-4836267B6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24268-9846-4284-9EB2-CC0F564F23B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305401" cy="3505200"/>
          </a:xfrm>
        </p:spPr>
        <p:txBody>
          <a:bodyPr/>
          <a:lstStyle/>
          <a:p>
            <a:r>
              <a:rPr lang="en-GB" dirty="0"/>
              <a:t>MSE &amp; SNR give numerical data</a:t>
            </a:r>
          </a:p>
          <a:p>
            <a:r>
              <a:rPr lang="en-GB" dirty="0"/>
              <a:t>Perceptual loss more effective for complex noise</a:t>
            </a:r>
          </a:p>
          <a:p>
            <a:pPr marL="42863" indent="-76200">
              <a:buNone/>
            </a:pPr>
            <a:endParaRPr lang="en-GB" noProof="0" dirty="0"/>
          </a:p>
        </p:txBody>
      </p:sp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2F264E23-F2A7-4F39-242B-389627B73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23195"/>
            <a:ext cx="3629236" cy="2873512"/>
          </a:xfrm>
          <a:prstGeom prst="rect">
            <a:avLst/>
          </a:prstGeom>
        </p:spPr>
      </p:pic>
      <p:pic>
        <p:nvPicPr>
          <p:cNvPr id="9" name="Picture 8" descr="A graph of orange and blue lines&#10;&#10;AI-generated content may be incorrect.">
            <a:extLst>
              <a:ext uri="{FF2B5EF4-FFF2-40B4-BE49-F238E27FC236}">
                <a16:creationId xmlns:a16="http://schemas.microsoft.com/office/drawing/2014/main" id="{EC86A762-754F-627D-32F0-B2D8E25AD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606413"/>
            <a:ext cx="3638023" cy="287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1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8A77-ED1C-3835-2DCC-138B2FA7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58C7-0ACC-8DB7-44BC-03D5DD26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1" cy="461665"/>
          </a:xfrm>
        </p:spPr>
        <p:txBody>
          <a:bodyPr/>
          <a:lstStyle/>
          <a:p>
            <a:r>
              <a:rPr lang="en-GB" dirty="0"/>
              <a:t>Conclusion</a:t>
            </a:r>
            <a:endParaRPr lang="en-GB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62F1DA-E3DB-3A20-2416-8018A5ACCE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24331-FB82-6632-F9FC-B49AADF9B77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305401" cy="3505200"/>
          </a:xfrm>
        </p:spPr>
        <p:txBody>
          <a:bodyPr/>
          <a:lstStyle/>
          <a:p>
            <a:r>
              <a:rPr lang="en-GB" dirty="0" err="1"/>
              <a:t>VGGish</a:t>
            </a:r>
            <a:r>
              <a:rPr lang="en-GB" dirty="0"/>
              <a:t> captures perceptual differences more effectively</a:t>
            </a:r>
          </a:p>
          <a:p>
            <a:r>
              <a:rPr lang="en-GB" dirty="0" err="1"/>
              <a:t>VGGish</a:t>
            </a:r>
            <a:r>
              <a:rPr lang="en-GB" dirty="0"/>
              <a:t>-based loss better matches human perception</a:t>
            </a:r>
          </a:p>
          <a:p>
            <a:r>
              <a:rPr lang="en-GB" dirty="0"/>
              <a:t>Useful for cases where human perception differs from basic metrics</a:t>
            </a:r>
          </a:p>
          <a:p>
            <a:pPr marL="42863" indent="-76200">
              <a:buNone/>
            </a:pPr>
            <a:endParaRPr lang="en-GB" noProof="0" dirty="0"/>
          </a:p>
        </p:txBody>
      </p:sp>
      <p:pic>
        <p:nvPicPr>
          <p:cNvPr id="7" name="Picture 6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09182C99-E3A8-09B2-2994-92027A55E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65325"/>
            <a:ext cx="6172200" cy="238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89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32F2-F27A-2A3D-22CF-5BA2E3CFA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3DF0-A396-BA17-A687-635E041DF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243972"/>
            <a:ext cx="8305401" cy="461665"/>
          </a:xfrm>
        </p:spPr>
        <p:txBody>
          <a:bodyPr/>
          <a:lstStyle/>
          <a:p>
            <a:r>
              <a:rPr lang="en-GB" dirty="0"/>
              <a:t>Future Work</a:t>
            </a:r>
            <a:endParaRPr lang="en-GB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74DCE2-3769-9F14-6D22-38F82861A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9</a:t>
            </a:fld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04A0B-062F-64A5-8C02-7DC8C452AC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298" y="974725"/>
            <a:ext cx="8305401" cy="3505200"/>
          </a:xfrm>
        </p:spPr>
        <p:txBody>
          <a:bodyPr/>
          <a:lstStyle/>
          <a:p>
            <a:r>
              <a:rPr lang="en-GB" dirty="0"/>
              <a:t>Test with  real time audio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Compare with other models (OpenL3, PANNs)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Add subjective listening tests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Experiment with different noise types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Apply metrics to evaluate denoising algorithms</a:t>
            </a:r>
          </a:p>
          <a:p>
            <a:pPr marL="42863" indent="-7620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6244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u T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pc="-5" dirty="0" err="1" smtClean="0">
            <a:solidFill>
              <a:srgbClr val="003358"/>
            </a:solidFill>
            <a:latin typeface="Arial"/>
            <a:cs typeface="Arial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274</Words>
  <Application>Microsoft Macintosh PowerPoint</Application>
  <PresentationFormat>Custom</PresentationFormat>
  <Paragraphs>77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Helvetica</vt:lpstr>
      <vt:lpstr>Open Sans</vt:lpstr>
      <vt:lpstr>Symbol</vt:lpstr>
      <vt:lpstr>Wingdings</vt:lpstr>
      <vt:lpstr>Office Theme</vt:lpstr>
      <vt:lpstr>Template PresentationGO</vt:lpstr>
      <vt:lpstr>PowerPoint Presentation</vt:lpstr>
      <vt:lpstr>Introduction</vt:lpstr>
      <vt:lpstr>Objectives and Tasks</vt:lpstr>
      <vt:lpstr>Literature Review</vt:lpstr>
      <vt:lpstr>Methodology</vt:lpstr>
      <vt:lpstr>Tools and Data</vt:lpstr>
      <vt:lpstr>Results</vt:lpstr>
      <vt:lpstr>Conclusion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Working - Introduction Event</dc:title>
  <dc:creator>matthias.hirth@tu-ilmenau.de</dc:creator>
  <cp:lastModifiedBy>taimur-ul.islam</cp:lastModifiedBy>
  <cp:revision>372</cp:revision>
  <dcterms:created xsi:type="dcterms:W3CDTF">2019-03-07T11:58:08Z</dcterms:created>
  <dcterms:modified xsi:type="dcterms:W3CDTF">2025-08-13T15:30:08Z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2019-03-07T00:00:00Z</vt:filetime>
  </property>
  <property fmtid="{D5CDD505-2E9C-101B-9397-08002B2CF9AE}" pid="3" name="Creator">
    <vt:lpwstr>Adobe InDesign CC 2017 (Macintosh)</vt:lpwstr>
  </property>
  <property fmtid="{D5CDD505-2E9C-101B-9397-08002B2CF9AE}" pid="4" name="LastSaved">
    <vt:filetime>2019-03-07T00:00:00Z</vt:filetime>
  </property>
</Properties>
</file>